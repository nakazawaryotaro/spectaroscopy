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9" r:id="rId2"/>
    <p:sldId id="258" r:id="rId3"/>
    <p:sldId id="260" r:id="rId4"/>
    <p:sldId id="1188" r:id="rId5"/>
    <p:sldId id="1192" r:id="rId6"/>
    <p:sldId id="1198" r:id="rId7"/>
    <p:sldId id="1189" r:id="rId8"/>
    <p:sldId id="1191" r:id="rId9"/>
    <p:sldId id="1195" r:id="rId10"/>
    <p:sldId id="1196" r:id="rId11"/>
    <p:sldId id="1197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50" autoAdjust="0"/>
    <p:restoredTop sz="94707"/>
  </p:normalViewPr>
  <p:slideViewPr>
    <p:cSldViewPr snapToGrid="0">
      <p:cViewPr varScale="1">
        <p:scale>
          <a:sx n="115" d="100"/>
          <a:sy n="115" d="100"/>
        </p:scale>
        <p:origin x="6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BBA8DC-8314-B14A-9610-77AB87BB170F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23F146-A977-7847-B552-96D4FB3077F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87935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B753BF-47CA-46B6-B2FF-CAB66ED2489A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63550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B753BF-47CA-46B6-B2FF-CAB66ED2489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7130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109682-0A7D-5B4C-F47D-33216F8FF5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796F23C-347E-7A0E-FCE6-1DF6C40C76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D682D00-7FAD-07D4-F12B-80F5ADCEC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E8723-237E-428B-967B-E4B6EC1D8BF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48838F3-AD71-9587-8E92-675C3890A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BA38C7-FD1E-5189-43DB-A761C3225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7B142-7EBE-4488-ACC2-C0ED8885D8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8796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E92AC3-886F-3969-BD87-7F125DDB0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85A046C-BA69-F33B-A130-6D85D0BB66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6CEC48-9C80-17C0-1E15-4069C794C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E8723-237E-428B-967B-E4B6EC1D8BF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D0056C-75FB-D15C-D77E-1F607D300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99827D-0812-B4E9-6405-E00E7286D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7B142-7EBE-4488-ACC2-C0ED8885D8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7450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C930413-231D-9C78-3364-E8F86BA8C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3B611E1-BE90-CE07-FA61-B885376D35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3A983F0-0ADE-4015-F943-A930D09F6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E8723-237E-428B-967B-E4B6EC1D8BF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3E6B73-4DC8-E3D7-EF9A-275637347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B17BAF-3317-A8F3-2AB0-F73290B19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7B142-7EBE-4488-ACC2-C0ED8885D8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1524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BB0801-1C0A-0213-4BC0-2B393CB2D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96ACAC-B833-3192-443E-A29385D072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28FC1BD-10CE-271C-BFFF-D8952CC2CB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30EA280-31FD-AF2A-267F-6595E11D6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E8723-237E-428B-967B-E4B6EC1D8BF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514AB9C-077D-A6FB-2578-9222D4EC5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FA5E2A7-7ACD-8B82-93E3-837B6895F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7B142-7EBE-4488-ACC2-C0ED8885D8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0686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7AEA89-5ACC-1B32-A4CB-37C7E8D2A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34949F4-5790-F878-7730-212002BD7D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D70CA9B-6BDF-62CC-C74B-518DCD595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BA03657-7D57-91EE-4519-8A45018BBE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CEB308D-4BEE-99DE-34FB-D830CC0AEB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8BA52E0-1625-2B62-F8B2-E0153BA6C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E8723-237E-428B-967B-E4B6EC1D8BF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9F76C6A-8992-CD4C-C879-476778CF2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9FE7D9E-3E89-7E6E-3CA7-CF62EC791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7B142-7EBE-4488-ACC2-C0ED8885D8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4218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4516E8-4475-CB24-65EB-6FE7E2B52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2C1D334-3291-DF6A-9107-D80D5FD81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E8723-237E-428B-967B-E4B6EC1D8BF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5D1F46D-BC2E-D8F8-A86C-153C38AB3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06D8E45-5701-8947-3764-2123D8B68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7B142-7EBE-4488-ACC2-C0ED8885D8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9210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13C5940-3363-9796-E703-A8523A845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E8723-237E-428B-967B-E4B6EC1D8BF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5F363FF-7E7F-4901-53BF-48429688F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B24F331-F948-698F-31E5-DDD446658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7B142-7EBE-4488-ACC2-C0ED8885D8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3781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BE3E2C-7382-094C-681A-36529D71E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33ED30F-9A11-C89C-1963-35F2F65CB3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B449E4D-D214-DFCD-539D-3FA62DF12F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79ECF23-01F4-B65F-1C9A-C61642BA2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E8723-237E-428B-967B-E4B6EC1D8BF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B832838-16AB-2731-1C80-5C959900A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A20CDB-313C-32C0-518D-F95B7A7A1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7B142-7EBE-4488-ACC2-C0ED8885D8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2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04331A-980C-0DC4-38A8-4B32F0EFA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798337C-E1BA-EF63-F25A-E8F9894790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F31DF85-F92F-654A-206A-C65150E8F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16F8CC6-DC3B-0C03-19D4-9FF542DB5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E8723-237E-428B-967B-E4B6EC1D8BF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1451C5A-6C52-0D44-59AE-870BCAF5D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7BC48F5-A10D-4ED5-E7A4-87DEBDC27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7B142-7EBE-4488-ACC2-C0ED8885D8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9330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98B212-F85F-11F6-A300-A401E5142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147EE3C-00CE-D962-DF4C-A4D1485F71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5272467-6B82-0D39-3137-448624309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E8723-237E-428B-967B-E4B6EC1D8BF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B00D9ED-0000-318F-A06A-2171B6A0F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E57D03E-513A-181E-F051-887C800B9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7B142-7EBE-4488-ACC2-C0ED8885D8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0186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3247D4A-FF72-0A1C-19C3-C92CFE0BDC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91578A5-EACE-E0A3-0882-281B5A581A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7EDCE5-A152-325D-D687-8A6D8CD12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E8723-237E-428B-967B-E4B6EC1D8BF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0BBDE03-85DC-2D8C-5EDF-2E22183AF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0934C9-78DB-3E6C-B934-E05233006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C7B142-7EBE-4488-ACC2-C0ED8885D8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23798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白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図 34">
            <a:extLst>
              <a:ext uri="{FF2B5EF4-FFF2-40B4-BE49-F238E27FC236}">
                <a16:creationId xmlns:a16="http://schemas.microsoft.com/office/drawing/2014/main" id="{5E831156-74CC-CA75-098D-B951B98933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72" b="-334"/>
          <a:stretch/>
        </p:blipFill>
        <p:spPr>
          <a:xfrm>
            <a:off x="178146" y="199844"/>
            <a:ext cx="10897926" cy="606787"/>
          </a:xfrm>
          <a:prstGeom prst="rect">
            <a:avLst/>
          </a:prstGeom>
        </p:spPr>
      </p:pic>
      <p:sp>
        <p:nvSpPr>
          <p:cNvPr id="28" name="タイトル 1">
            <a:extLst>
              <a:ext uri="{FF2B5EF4-FFF2-40B4-BE49-F238E27FC236}">
                <a16:creationId xmlns:a16="http://schemas.microsoft.com/office/drawing/2014/main" id="{2E98DA7E-A526-43F8-B78F-A672623CD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199" y="155121"/>
            <a:ext cx="9835481" cy="509884"/>
          </a:xfrm>
          <a:prstGeom prst="rect">
            <a:avLst/>
          </a:prstGeom>
        </p:spPr>
        <p:txBody>
          <a:bodyPr anchor="t"/>
          <a:lstStyle>
            <a:lvl1pPr algn="l">
              <a:defRPr sz="36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33D915E-AB2E-FBE6-F473-4343E16F45CB}"/>
              </a:ext>
            </a:extLst>
          </p:cNvPr>
          <p:cNvGrpSpPr/>
          <p:nvPr userDrawn="1"/>
        </p:nvGrpSpPr>
        <p:grpSpPr>
          <a:xfrm>
            <a:off x="11105482" y="65823"/>
            <a:ext cx="908372" cy="977824"/>
            <a:chOff x="10886177" y="105710"/>
            <a:chExt cx="1219200" cy="1312416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36EB79D9-640C-BE16-9141-DD9B015A8B8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10851343" y="140544"/>
              <a:ext cx="1288868" cy="1219200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84EA8D43-B493-064D-0D21-1E3A582105E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5400000">
              <a:off x="11281520" y="1010414"/>
              <a:ext cx="311780" cy="503644"/>
            </a:xfrm>
            <a:prstGeom prst="rect">
              <a:avLst/>
            </a:prstGeom>
          </p:spPr>
        </p:pic>
      </p:grp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052B6E0F-0D70-EF47-ED42-C980F7846FF5}"/>
              </a:ext>
            </a:extLst>
          </p:cNvPr>
          <p:cNvSpPr txBox="1">
            <a:spLocks/>
          </p:cNvSpPr>
          <p:nvPr userDrawn="1"/>
        </p:nvSpPr>
        <p:spPr>
          <a:xfrm>
            <a:off x="11248462" y="320713"/>
            <a:ext cx="777935" cy="326665"/>
          </a:xfrm>
          <a:prstGeom prst="rect">
            <a:avLst/>
          </a:prstGeom>
          <a:noFill/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txBody>
          <a:bodyPr/>
          <a:lstStyle>
            <a:defPPr>
              <a:defRPr lang="en-US"/>
            </a:defPPr>
            <a:lvl1pPr marL="0" algn="ctr" defTabSz="457189" rtl="0" eaLnBrk="1" latinLnBrk="0" hangingPunct="1">
              <a:defRPr sz="2400" b="1" i="1" kern="1200">
                <a:solidFill>
                  <a:schemeClr val="tx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189" algn="l" defTabSz="457189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7" algn="l" defTabSz="457189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457189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457189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457189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algn="l" defTabSz="457189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457189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457189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07F9D19-84BB-44E4-AA2D-BAEECACB90DF}" type="slidenum">
              <a:rPr lang="ja-JP" altLang="en-US" sz="2000" i="1" u="none" smtClean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pPr algn="ctr"/>
              <a:t>‹#›</a:t>
            </a:fld>
            <a:endParaRPr lang="ja-JP" altLang="en-US" sz="2000" i="1" u="none"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57879D7-F04D-CCE3-35E8-425C11C1E6B6}"/>
              </a:ext>
            </a:extLst>
          </p:cNvPr>
          <p:cNvSpPr/>
          <p:nvPr userDrawn="1"/>
        </p:nvSpPr>
        <p:spPr>
          <a:xfrm rot="19656244">
            <a:off x="11038789" y="160211"/>
            <a:ext cx="142940" cy="6039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3668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75064D7-A1E1-04D9-70B9-CA0F12567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FB576D4-A493-740B-BBA7-8FA7D36B4F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BDF572B-E673-1291-2C8A-8921DFDF21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8E8723-237E-428B-967B-E4B6EC1D8BF6}" type="datetimeFigureOut">
              <a:rPr kumimoji="1" lang="ja-JP" altLang="en-US" smtClean="0"/>
              <a:t>2025/11/6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53E6F7-9B9B-0E87-E621-A8E7A6F738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3858099-A02C-DA80-8B4D-63709CAEC6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C7B142-7EBE-4488-ACC2-C0ED8885D8E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4090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A980DEC4-71C7-D07C-160A-DF782D3BAB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2569700"/>
              </p:ext>
            </p:extLst>
          </p:nvPr>
        </p:nvGraphicFramePr>
        <p:xfrm>
          <a:off x="0" y="784202"/>
          <a:ext cx="1219200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7630">
                  <a:extLst>
                    <a:ext uri="{9D8B030D-6E8A-4147-A177-3AD203B41FA5}">
                      <a16:colId xmlns:a16="http://schemas.microsoft.com/office/drawing/2014/main" val="3267943048"/>
                    </a:ext>
                  </a:extLst>
                </a:gridCol>
                <a:gridCol w="896941">
                  <a:extLst>
                    <a:ext uri="{9D8B030D-6E8A-4147-A177-3AD203B41FA5}">
                      <a16:colId xmlns:a16="http://schemas.microsoft.com/office/drawing/2014/main" val="3287194367"/>
                    </a:ext>
                  </a:extLst>
                </a:gridCol>
                <a:gridCol w="1409633">
                  <a:extLst>
                    <a:ext uri="{9D8B030D-6E8A-4147-A177-3AD203B41FA5}">
                      <a16:colId xmlns:a16="http://schemas.microsoft.com/office/drawing/2014/main" val="3268376557"/>
                    </a:ext>
                  </a:extLst>
                </a:gridCol>
                <a:gridCol w="1409633">
                  <a:extLst>
                    <a:ext uri="{9D8B030D-6E8A-4147-A177-3AD203B41FA5}">
                      <a16:colId xmlns:a16="http://schemas.microsoft.com/office/drawing/2014/main" val="2468044315"/>
                    </a:ext>
                  </a:extLst>
                </a:gridCol>
                <a:gridCol w="1409633">
                  <a:extLst>
                    <a:ext uri="{9D8B030D-6E8A-4147-A177-3AD203B41FA5}">
                      <a16:colId xmlns:a16="http://schemas.microsoft.com/office/drawing/2014/main" val="2761048391"/>
                    </a:ext>
                  </a:extLst>
                </a:gridCol>
                <a:gridCol w="1409633">
                  <a:extLst>
                    <a:ext uri="{9D8B030D-6E8A-4147-A177-3AD203B41FA5}">
                      <a16:colId xmlns:a16="http://schemas.microsoft.com/office/drawing/2014/main" val="2614786515"/>
                    </a:ext>
                  </a:extLst>
                </a:gridCol>
                <a:gridCol w="1409633">
                  <a:extLst>
                    <a:ext uri="{9D8B030D-6E8A-4147-A177-3AD203B41FA5}">
                      <a16:colId xmlns:a16="http://schemas.microsoft.com/office/drawing/2014/main" val="2631371507"/>
                    </a:ext>
                  </a:extLst>
                </a:gridCol>
                <a:gridCol w="1409633">
                  <a:extLst>
                    <a:ext uri="{9D8B030D-6E8A-4147-A177-3AD203B41FA5}">
                      <a16:colId xmlns:a16="http://schemas.microsoft.com/office/drawing/2014/main" val="3181379609"/>
                    </a:ext>
                  </a:extLst>
                </a:gridCol>
                <a:gridCol w="1409633">
                  <a:extLst>
                    <a:ext uri="{9D8B030D-6E8A-4147-A177-3AD203B41FA5}">
                      <a16:colId xmlns:a16="http://schemas.microsoft.com/office/drawing/2014/main" val="840818448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Photon Sources</a:t>
                      </a:r>
                    </a:p>
                  </a:txBody>
                  <a:tcPr marL="6350" marR="6350" marT="6350" marB="0"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He I</a:t>
                      </a:r>
                      <a:r>
                        <a:rPr lang="el-GR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α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He I</a:t>
                      </a:r>
                      <a:r>
                        <a:rPr lang="el-GR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β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He II</a:t>
                      </a:r>
                      <a:r>
                        <a:rPr lang="el-GR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α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Xe I</a:t>
                      </a:r>
                      <a:r>
                        <a:rPr lang="el-GR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α</a:t>
                      </a:r>
                      <a:r>
                        <a:rPr lang="en-US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 (</a:t>
                      </a:r>
                      <a:r>
                        <a:rPr lang="en-US" sz="1800" b="0" i="0" u="none" strike="noStrike" baseline="300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3</a:t>
                      </a:r>
                      <a:r>
                        <a:rPr lang="en-US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P</a:t>
                      </a:r>
                      <a:r>
                        <a:rPr lang="en-US" sz="1800" b="0" i="0" u="none" strike="noStrike" baseline="-250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1</a:t>
                      </a:r>
                      <a:r>
                        <a:rPr lang="en-US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)</a:t>
                      </a:r>
                      <a:endParaRPr lang="el-GR" sz="1800" b="0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Xe I</a:t>
                      </a:r>
                      <a:r>
                        <a:rPr lang="el-GR" altLang="ja-JP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α</a:t>
                      </a:r>
                      <a:r>
                        <a:rPr lang="en-US" altLang="ja-JP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 (</a:t>
                      </a:r>
                      <a:r>
                        <a:rPr lang="en-US" altLang="ja-JP" sz="1800" b="0" i="0" u="none" strike="noStrike" baseline="300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1</a:t>
                      </a:r>
                      <a:r>
                        <a:rPr lang="en-US" altLang="ja-JP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P</a:t>
                      </a:r>
                      <a:r>
                        <a:rPr lang="en-US" altLang="ja-JP" sz="1800" b="0" i="0" u="none" strike="noStrike" baseline="-250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1</a:t>
                      </a:r>
                      <a:r>
                        <a:rPr lang="en-US" altLang="ja-JP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)</a:t>
                      </a:r>
                      <a:endParaRPr lang="el-GR" altLang="ja-JP" sz="1800" b="0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8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AlK</a:t>
                      </a:r>
                      <a:r>
                        <a:rPr lang="el-GR" altLang="ja-JP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α</a:t>
                      </a:r>
                      <a:r>
                        <a:rPr lang="en-US" altLang="ja-JP" sz="1800" b="0" i="0" u="none" strike="noStrike" baseline="-250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1,2</a:t>
                      </a:r>
                      <a:endParaRPr lang="el-GR" altLang="ja-JP" sz="1800" b="0" i="0" u="none" strike="noStrike" baseline="-250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8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MgK</a:t>
                      </a:r>
                      <a:r>
                        <a:rPr lang="el-GR" altLang="ja-JP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α</a:t>
                      </a:r>
                      <a:r>
                        <a:rPr lang="en-US" altLang="ja-JP" sz="1800" b="0" i="0" u="none" strike="noStrike" baseline="-250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1,2</a:t>
                      </a:r>
                      <a:endParaRPr lang="el-GR" altLang="ja-JP" sz="1800" b="0" i="0" u="none" strike="noStrike" baseline="-250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8280761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Source transition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1s2p(</a:t>
                      </a:r>
                      <a:r>
                        <a:rPr kumimoji="1" lang="en-US" altLang="ja-JP" sz="1800" b="0" baseline="30000" dirty="0">
                          <a:latin typeface="+mn-lt"/>
                        </a:rPr>
                        <a:t>1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P</a:t>
                      </a:r>
                      <a:r>
                        <a:rPr kumimoji="1" lang="en-US" altLang="ja-JP" sz="1800" b="0" baseline="-25000" dirty="0">
                          <a:latin typeface="+mn-lt"/>
                        </a:rPr>
                        <a:t>1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)</a:t>
                      </a:r>
                      <a:br>
                        <a:rPr kumimoji="1" lang="en-US" altLang="ja-JP" sz="1800" b="0" dirty="0">
                          <a:latin typeface="+mn-lt"/>
                        </a:rPr>
                      </a:br>
                      <a:r>
                        <a:rPr kumimoji="1" lang="ja-JP" altLang="en-US" sz="1800" b="0">
                          <a:latin typeface="+mn-lt"/>
                        </a:rPr>
                        <a:t>➔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1s</a:t>
                      </a:r>
                      <a:r>
                        <a:rPr kumimoji="1" lang="en-US" altLang="ja-JP" sz="1800" b="0" baseline="30000" dirty="0">
                          <a:latin typeface="+mn-lt"/>
                        </a:rPr>
                        <a:t>2</a:t>
                      </a:r>
                      <a:endParaRPr kumimoji="1" lang="ja-JP" altLang="en-US" sz="1800" b="0" baseline="300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1s3p(</a:t>
                      </a:r>
                      <a:r>
                        <a:rPr kumimoji="1" lang="en-US" altLang="ja-JP" sz="1800" b="0" baseline="30000" dirty="0">
                          <a:latin typeface="+mn-lt"/>
                        </a:rPr>
                        <a:t>1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P</a:t>
                      </a:r>
                      <a:r>
                        <a:rPr kumimoji="1" lang="en-US" altLang="ja-JP" sz="1800" b="0" baseline="-25000" dirty="0">
                          <a:latin typeface="+mn-lt"/>
                        </a:rPr>
                        <a:t>1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)</a:t>
                      </a:r>
                      <a:br>
                        <a:rPr kumimoji="1" lang="en-US" altLang="ja-JP" sz="1800" b="0" dirty="0">
                          <a:latin typeface="+mn-lt"/>
                        </a:rPr>
                      </a:br>
                      <a:r>
                        <a:rPr kumimoji="1" lang="ja-JP" altLang="en-US" sz="1800" b="0">
                          <a:latin typeface="+mn-lt"/>
                        </a:rPr>
                        <a:t>➔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1s</a:t>
                      </a:r>
                      <a:r>
                        <a:rPr kumimoji="1" lang="en-US" altLang="ja-JP" sz="1800" b="0" baseline="30000" dirty="0">
                          <a:latin typeface="+mn-lt"/>
                        </a:rPr>
                        <a:t>2</a:t>
                      </a:r>
                      <a:endParaRPr kumimoji="1" lang="ja-JP" altLang="en-US" sz="1800" b="0" baseline="300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2p(</a:t>
                      </a:r>
                      <a:r>
                        <a:rPr kumimoji="1" lang="en-US" altLang="ja-JP" sz="1800" b="0" baseline="30000" dirty="0">
                          <a:latin typeface="+mn-lt"/>
                        </a:rPr>
                        <a:t>2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P</a:t>
                      </a:r>
                      <a:r>
                        <a:rPr kumimoji="1" lang="en-US" altLang="ja-JP" sz="1800" b="0" baseline="-25000" dirty="0">
                          <a:latin typeface="+mn-lt"/>
                        </a:rPr>
                        <a:t>3/2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)</a:t>
                      </a:r>
                      <a:br>
                        <a:rPr kumimoji="1" lang="en-US" altLang="ja-JP" sz="1800" b="0" dirty="0">
                          <a:latin typeface="+mn-lt"/>
                        </a:rPr>
                      </a:br>
                      <a:r>
                        <a:rPr kumimoji="1" lang="ja-JP" altLang="en-US" sz="1800" b="0">
                          <a:latin typeface="+mn-lt"/>
                        </a:rPr>
                        <a:t>➔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1s</a:t>
                      </a:r>
                      <a:r>
                        <a:rPr kumimoji="1" lang="en-US" altLang="ja-JP" sz="1800" b="0" baseline="30000" dirty="0">
                          <a:latin typeface="+mn-lt"/>
                        </a:rPr>
                        <a:t>2</a:t>
                      </a:r>
                      <a:endParaRPr kumimoji="1" lang="ja-JP" altLang="en-US" sz="1800" b="0" baseline="300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5p</a:t>
                      </a:r>
                      <a:r>
                        <a:rPr kumimoji="1" lang="en-US" altLang="ja-JP" sz="1800" b="0" baseline="30000" dirty="0">
                          <a:latin typeface="+mn-lt"/>
                        </a:rPr>
                        <a:t>5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6s </a:t>
                      </a:r>
                      <a:r>
                        <a:rPr kumimoji="1" lang="en-US" altLang="ja-JP" sz="1800" b="0" dirty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en-US" altLang="ja-JP" sz="1800" b="0" i="0" u="none" strike="noStrike" baseline="30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3</a:t>
                      </a:r>
                      <a:r>
                        <a:rPr lang="en-US" altLang="ja-JP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P</a:t>
                      </a:r>
                      <a:r>
                        <a:rPr lang="en-US" altLang="ja-JP" sz="1800" b="0" i="0" u="none" strike="noStrike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1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)</a:t>
                      </a:r>
                      <a:r>
                        <a:rPr kumimoji="1" lang="ja-JP" altLang="en-US" sz="1800" b="0" dirty="0">
                          <a:latin typeface="+mn-lt"/>
                        </a:rPr>
                        <a:t>➔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5p</a:t>
                      </a:r>
                      <a:r>
                        <a:rPr kumimoji="1" lang="en-US" altLang="ja-JP" sz="1800" b="0" baseline="30000" dirty="0">
                          <a:latin typeface="+mn-lt"/>
                        </a:rPr>
                        <a:t>6</a:t>
                      </a:r>
                      <a:endParaRPr kumimoji="1" lang="ja-JP" altLang="en-US" sz="1800" b="0" baseline="300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5p</a:t>
                      </a:r>
                      <a:r>
                        <a:rPr kumimoji="1" lang="en-US" altLang="ja-JP" sz="1800" b="0" baseline="30000" dirty="0">
                          <a:latin typeface="+mn-lt"/>
                        </a:rPr>
                        <a:t>5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6s </a:t>
                      </a:r>
                      <a:r>
                        <a:rPr kumimoji="1" lang="en-US" altLang="ja-JP" sz="1800" b="0" dirty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en-US" altLang="ja-JP" sz="1800" b="0" i="0" u="none" strike="noStrike" baseline="30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1</a:t>
                      </a:r>
                      <a:r>
                        <a:rPr lang="en-US" altLang="ja-JP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P</a:t>
                      </a:r>
                      <a:r>
                        <a:rPr lang="en-US" altLang="ja-JP" sz="1800" b="0" i="0" u="none" strike="noStrike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1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)</a:t>
                      </a:r>
                      <a:r>
                        <a:rPr kumimoji="1" lang="ja-JP" altLang="en-US" sz="1800" b="0" dirty="0">
                          <a:latin typeface="+mn-lt"/>
                        </a:rPr>
                        <a:t>➔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5p</a:t>
                      </a:r>
                      <a:r>
                        <a:rPr kumimoji="1" lang="en-US" altLang="ja-JP" sz="1800" b="0" baseline="30000" dirty="0">
                          <a:latin typeface="+mn-lt"/>
                        </a:rPr>
                        <a:t>6</a:t>
                      </a:r>
                      <a:endParaRPr kumimoji="1" lang="ja-JP" altLang="en-US" sz="1800" b="0" baseline="300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K-L</a:t>
                      </a:r>
                      <a:r>
                        <a:rPr kumimoji="1" lang="en-US" altLang="ja-JP" sz="1800" b="0" baseline="-25000" dirty="0">
                          <a:latin typeface="+mn-lt"/>
                        </a:rPr>
                        <a:t>2 </a:t>
                      </a:r>
                      <a:r>
                        <a:rPr kumimoji="1" lang="en-US" altLang="ja-JP" sz="1800" b="0" baseline="0" dirty="0">
                          <a:latin typeface="+mn-lt"/>
                        </a:rPr>
                        <a:t>and </a:t>
                      </a:r>
                      <a:br>
                        <a:rPr kumimoji="1" lang="en-US" altLang="ja-JP" sz="1800" b="0" baseline="0" dirty="0">
                          <a:latin typeface="+mn-lt"/>
                        </a:rPr>
                      </a:br>
                      <a:r>
                        <a:rPr kumimoji="1" lang="en-US" altLang="ja-JP" sz="1800" b="0" baseline="0" dirty="0">
                          <a:latin typeface="+mn-lt"/>
                        </a:rPr>
                        <a:t>K-L</a:t>
                      </a:r>
                      <a:r>
                        <a:rPr kumimoji="1" lang="en-US" altLang="ja-JP" sz="1800" b="0" baseline="-25000" dirty="0">
                          <a:latin typeface="+mn-lt"/>
                        </a:rPr>
                        <a:t>3</a:t>
                      </a:r>
                      <a:endParaRPr kumimoji="1" lang="ja-JP" altLang="en-US" sz="1800" b="0" baseline="-250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K-L</a:t>
                      </a:r>
                      <a:r>
                        <a:rPr kumimoji="1" lang="en-US" altLang="ja-JP" sz="1800" b="0" baseline="-25000" dirty="0">
                          <a:latin typeface="+mn-lt"/>
                        </a:rPr>
                        <a:t>2 </a:t>
                      </a:r>
                      <a:r>
                        <a:rPr kumimoji="1" lang="en-US" altLang="ja-JP" sz="1800" b="0" baseline="0" dirty="0">
                          <a:latin typeface="+mn-lt"/>
                        </a:rPr>
                        <a:t>and </a:t>
                      </a:r>
                      <a:br>
                        <a:rPr kumimoji="1" lang="en-US" altLang="ja-JP" sz="1800" b="0" baseline="0" dirty="0">
                          <a:latin typeface="+mn-lt"/>
                        </a:rPr>
                      </a:br>
                      <a:r>
                        <a:rPr kumimoji="1" lang="en-US" altLang="ja-JP" sz="1800" b="0" baseline="0" dirty="0">
                          <a:latin typeface="+mn-lt"/>
                        </a:rPr>
                        <a:t>K-L</a:t>
                      </a:r>
                      <a:r>
                        <a:rPr kumimoji="1" lang="en-US" altLang="ja-JP" sz="1800" b="0" baseline="-25000" dirty="0">
                          <a:latin typeface="+mn-lt"/>
                        </a:rPr>
                        <a:t>3</a:t>
                      </a:r>
                      <a:endParaRPr kumimoji="1" lang="ja-JP" altLang="en-US" sz="1800" b="0" baseline="-250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9707634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Intensity</a:t>
                      </a:r>
                      <a:r>
                        <a:rPr kumimoji="1" lang="ja-JP" altLang="en-US" sz="1800" b="0">
                          <a:latin typeface="+mn-lt"/>
                        </a:rPr>
                        <a:t> 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(% of </a:t>
                      </a:r>
                      <a:br>
                        <a:rPr kumimoji="1" lang="en-US" altLang="ja-JP" sz="1800" b="0" dirty="0">
                          <a:latin typeface="+mn-lt"/>
                        </a:rPr>
                      </a:br>
                      <a:r>
                        <a:rPr kumimoji="1" lang="en-US" altLang="ja-JP" sz="1800" b="0" dirty="0">
                          <a:latin typeface="+mn-lt"/>
                        </a:rPr>
                        <a:t>the total intensity)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Strongest of He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6 % of </a:t>
                      </a:r>
                      <a:br>
                        <a:rPr kumimoji="1" lang="en-US" altLang="ja-JP" sz="1800" b="0" dirty="0">
                          <a:latin typeface="+mn-lt"/>
                        </a:rPr>
                      </a:br>
                      <a:r>
                        <a:rPr kumimoji="1" lang="en-US" altLang="ja-JP" sz="1800" b="0" dirty="0">
                          <a:latin typeface="+mn-lt"/>
                        </a:rPr>
                        <a:t>He I</a:t>
                      </a:r>
                      <a:r>
                        <a:rPr kumimoji="1" lang="el-GR" altLang="ja-JP" sz="1800" b="0" dirty="0">
                          <a:latin typeface="+mn-lt"/>
                        </a:rPr>
                        <a:t>α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6 % of </a:t>
                      </a:r>
                      <a:br>
                        <a:rPr kumimoji="1" lang="en-US" altLang="ja-JP" sz="1800" b="0" dirty="0">
                          <a:latin typeface="+mn-lt"/>
                        </a:rPr>
                      </a:br>
                      <a:r>
                        <a:rPr kumimoji="1" lang="en-US" altLang="ja-JP" sz="1800" b="0" dirty="0">
                          <a:latin typeface="+mn-lt"/>
                        </a:rPr>
                        <a:t>He I</a:t>
                      </a:r>
                      <a:r>
                        <a:rPr kumimoji="1" lang="el-GR" altLang="ja-JP" sz="1800" b="0" dirty="0">
                          <a:latin typeface="+mn-lt"/>
                        </a:rPr>
                        <a:t>α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Strongest of Xe I</a:t>
                      </a:r>
                      <a:r>
                        <a:rPr kumimoji="1" lang="el-GR" altLang="ja-JP" sz="1800" b="0" dirty="0">
                          <a:latin typeface="+mn-lt"/>
                        </a:rPr>
                        <a:t>α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18 % of </a:t>
                      </a:r>
                      <a:br>
                        <a:rPr kumimoji="1" lang="en-US" altLang="ja-JP" sz="1800" b="0" dirty="0">
                          <a:latin typeface="+mn-lt"/>
                        </a:rPr>
                      </a:br>
                      <a:r>
                        <a:rPr kumimoji="1" lang="en-US" altLang="ja-JP" sz="1800" b="0" dirty="0">
                          <a:latin typeface="+mn-lt"/>
                        </a:rPr>
                        <a:t>Xe I</a:t>
                      </a:r>
                      <a:r>
                        <a:rPr kumimoji="1" lang="el-GR" altLang="ja-JP" sz="1800" b="0" dirty="0">
                          <a:latin typeface="+mn-lt"/>
                        </a:rPr>
                        <a:t>α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-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-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548598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Photon energy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21.218 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23.087 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40.814 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8.437 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9.570 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1486.65 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1253.64 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9385879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Photon linewidth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&lt;1 </a:t>
                      </a:r>
                      <a:r>
                        <a:rPr kumimoji="1" lang="en-US" altLang="ja-JP" sz="1800" b="0" dirty="0" err="1">
                          <a:latin typeface="+mn-lt"/>
                        </a:rPr>
                        <a:t>meV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&lt;1 </a:t>
                      </a:r>
                      <a:r>
                        <a:rPr kumimoji="1" lang="en-US" altLang="ja-JP" sz="1800" b="0" dirty="0" err="1">
                          <a:latin typeface="+mn-lt"/>
                        </a:rPr>
                        <a:t>meV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&lt;1 </a:t>
                      </a:r>
                      <a:r>
                        <a:rPr kumimoji="1" lang="en-US" altLang="ja-JP" sz="1800" b="0" dirty="0" err="1">
                          <a:latin typeface="+mn-lt"/>
                        </a:rPr>
                        <a:t>meV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&lt;1 </a:t>
                      </a:r>
                      <a:r>
                        <a:rPr kumimoji="1" lang="en-US" altLang="ja-JP" sz="1800" b="0" dirty="0" err="1">
                          <a:latin typeface="+mn-lt"/>
                        </a:rPr>
                        <a:t>meV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&lt;1 </a:t>
                      </a:r>
                      <a:r>
                        <a:rPr kumimoji="1" lang="en-US" altLang="ja-JP" sz="1800" b="0" dirty="0" err="1">
                          <a:latin typeface="+mn-lt"/>
                        </a:rPr>
                        <a:t>meV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850 </a:t>
                      </a:r>
                      <a:r>
                        <a:rPr kumimoji="1" lang="en-US" altLang="ja-JP" sz="1800" b="0" dirty="0" err="1">
                          <a:latin typeface="+mn-lt"/>
                        </a:rPr>
                        <a:t>meV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680 </a:t>
                      </a:r>
                      <a:r>
                        <a:rPr kumimoji="1" lang="en-US" altLang="ja-JP" sz="1800" b="0" dirty="0" err="1">
                          <a:latin typeface="+mn-lt"/>
                        </a:rPr>
                        <a:t>meV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6036962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/>
                      <a:endParaRPr kumimoji="1" lang="en-US" altLang="ja-JP" sz="1800" b="0" dirty="0">
                        <a:latin typeface="+mn-lt"/>
                      </a:endParaRPr>
                    </a:p>
                    <a:p>
                      <a:pPr algn="ctr"/>
                      <a:endParaRPr kumimoji="1" lang="en-US" altLang="ja-JP" sz="1800" b="0" dirty="0">
                        <a:latin typeface="+mn-lt"/>
                      </a:endParaRPr>
                    </a:p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Kinetic energy at E</a:t>
                      </a:r>
                      <a:r>
                        <a:rPr kumimoji="1" lang="en-US" altLang="ja-JP" sz="1800" b="0" baseline="-25000" dirty="0">
                          <a:latin typeface="+mn-lt"/>
                        </a:rPr>
                        <a:t>F </a:t>
                      </a:r>
                      <a:r>
                        <a:rPr kumimoji="1" lang="en-US" altLang="ja-JP" sz="1800" b="0" baseline="0" dirty="0">
                          <a:latin typeface="+mn-lt"/>
                        </a:rPr>
                        <a:t>(eV)</a:t>
                      </a:r>
                      <a:endParaRPr kumimoji="1" lang="ja-JP" altLang="en-US" sz="1800" b="0" baseline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PE02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1" dirty="0">
                          <a:latin typeface="+mn-lt"/>
                        </a:rPr>
                        <a:t>16.95</a:t>
                      </a:r>
                      <a:endParaRPr kumimoji="1" lang="ja-JP" altLang="en-US" sz="1600" b="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>
                          <a:latin typeface="+mn-lt"/>
                        </a:rPr>
                        <a:t>(18.82)</a:t>
                      </a:r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>
                          <a:latin typeface="+mn-lt"/>
                        </a:rPr>
                        <a:t>(36.55)</a:t>
                      </a:r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1" dirty="0">
                          <a:latin typeface="+mn-lt"/>
                        </a:rPr>
                        <a:t>4.17</a:t>
                      </a:r>
                      <a:r>
                        <a:rPr kumimoji="1" lang="ja-JP" altLang="en-US" sz="1600" b="1">
                          <a:latin typeface="+mn-lt"/>
                        </a:rPr>
                        <a:t> </a:t>
                      </a:r>
                      <a:r>
                        <a:rPr kumimoji="1" lang="en-US" altLang="ja-JP" sz="1600" b="0" dirty="0">
                          <a:latin typeface="+mn-lt"/>
                        </a:rPr>
                        <a:t>(4.17)</a:t>
                      </a:r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>
                          <a:latin typeface="+mn-lt"/>
                        </a:rPr>
                        <a:t>(5.30)</a:t>
                      </a:r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026868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PE05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1" dirty="0">
                          <a:latin typeface="+mn-lt"/>
                        </a:rPr>
                        <a:t>16.95</a:t>
                      </a:r>
                      <a:endParaRPr kumimoji="1" lang="ja-JP" altLang="en-US" sz="1600" b="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>
                          <a:latin typeface="+mn-lt"/>
                        </a:rPr>
                        <a:t>(18.82)</a:t>
                      </a:r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>
                          <a:latin typeface="+mn-lt"/>
                        </a:rPr>
                        <a:t>(36.55)</a:t>
                      </a:r>
                      <a:endParaRPr kumimoji="1" lang="ja-JP" altLang="en-US" sz="1600" b="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1" dirty="0">
                          <a:latin typeface="+mn-lt"/>
                        </a:rPr>
                        <a:t>4.17 </a:t>
                      </a:r>
                      <a:r>
                        <a:rPr kumimoji="1" lang="en-US" altLang="ja-JP" sz="1600" b="0" dirty="0">
                          <a:latin typeface="+mn-lt"/>
                        </a:rPr>
                        <a:t>(4.17)</a:t>
                      </a:r>
                      <a:endParaRPr kumimoji="1" lang="ja-JP" altLang="en-US" sz="1600" b="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b="0" dirty="0">
                          <a:latin typeface="+mn-lt"/>
                        </a:rPr>
                        <a:t>(5.30)</a:t>
                      </a:r>
                      <a:endParaRPr kumimoji="1" lang="ja-JP" altLang="en-US" sz="1600" b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53318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PE10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1" dirty="0">
                          <a:latin typeface="+mn-lt"/>
                        </a:rPr>
                        <a:t>16.96</a:t>
                      </a:r>
                      <a:endParaRPr kumimoji="1" lang="ja-JP" altLang="en-US" sz="1600" b="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>
                          <a:latin typeface="+mn-lt"/>
                        </a:rPr>
                        <a:t>(18.83)</a:t>
                      </a:r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1" dirty="0">
                          <a:latin typeface="+mn-lt"/>
                        </a:rPr>
                        <a:t>36.56 </a:t>
                      </a:r>
                      <a:r>
                        <a:rPr kumimoji="1" lang="en-US" altLang="ja-JP" sz="1600" b="0" dirty="0">
                          <a:latin typeface="+mn-lt"/>
                        </a:rPr>
                        <a:t>(36.56)</a:t>
                      </a:r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1" dirty="0">
                          <a:latin typeface="+mn-lt"/>
                        </a:rPr>
                        <a:t>4.19 </a:t>
                      </a:r>
                      <a:r>
                        <a:rPr kumimoji="1" lang="en-US" altLang="ja-JP" sz="1600" b="0" dirty="0">
                          <a:latin typeface="+mn-lt"/>
                        </a:rPr>
                        <a:t>(4.18)</a:t>
                      </a:r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b="0" dirty="0">
                          <a:latin typeface="+mn-lt"/>
                        </a:rPr>
                        <a:t>(5.31)</a:t>
                      </a:r>
                      <a:endParaRPr kumimoji="1" lang="ja-JP" altLang="en-US" sz="1600" b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939183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PE20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1" dirty="0">
                          <a:latin typeface="+mn-lt"/>
                        </a:rPr>
                        <a:t>36.56</a:t>
                      </a:r>
                      <a:endParaRPr kumimoji="1" lang="ja-JP" altLang="en-US" sz="1600" b="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600" b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774099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kumimoji="1" lang="ja-JP" altLang="en-US" sz="1800" b="1" baseline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PE100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1" dirty="0">
                          <a:latin typeface="+mn-lt"/>
                        </a:rPr>
                        <a:t>1482.08</a:t>
                      </a:r>
                      <a:endParaRPr kumimoji="1" lang="ja-JP" altLang="en-US" sz="1600" b="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1" dirty="0">
                          <a:latin typeface="+mn-lt"/>
                        </a:rPr>
                        <a:t>1249.10</a:t>
                      </a:r>
                      <a:endParaRPr kumimoji="1" lang="ja-JP" altLang="en-US" sz="1600" b="1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827261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kumimoji="1" lang="ja-JP" altLang="en-US" sz="1800" b="1" baseline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PE200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b="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768493"/>
                  </a:ext>
                </a:extLst>
              </a:tr>
            </a:tbl>
          </a:graphicData>
        </a:graphic>
      </p:graphicFrame>
      <p:pic>
        <p:nvPicPr>
          <p:cNvPr id="6" name="図 5">
            <a:extLst>
              <a:ext uri="{FF2B5EF4-FFF2-40B4-BE49-F238E27FC236}">
                <a16:creationId xmlns:a16="http://schemas.microsoft.com/office/drawing/2014/main" id="{5203189F-1294-530A-318E-E8480FF9DB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04" t="5432"/>
          <a:stretch/>
        </p:blipFill>
        <p:spPr>
          <a:xfrm>
            <a:off x="9443436" y="5523408"/>
            <a:ext cx="2451549" cy="1100779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84292DD-F111-8997-EC4B-846AA8E18766}"/>
              </a:ext>
            </a:extLst>
          </p:cNvPr>
          <p:cNvSpPr txBox="1"/>
          <p:nvPr/>
        </p:nvSpPr>
        <p:spPr>
          <a:xfrm>
            <a:off x="346841" y="309005"/>
            <a:ext cx="2383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Date: 2025/04/04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57E5500-AADC-4417-EBF2-3761A654E1DE}"/>
              </a:ext>
            </a:extLst>
          </p:cNvPr>
          <p:cNvSpPr txBox="1"/>
          <p:nvPr/>
        </p:nvSpPr>
        <p:spPr>
          <a:xfrm>
            <a:off x="656882" y="5750631"/>
            <a:ext cx="7058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/>
              <a:t>太字</a:t>
            </a:r>
            <a:r>
              <a:rPr lang="en-US" altLang="ja-JP" dirty="0"/>
              <a:t>…</a:t>
            </a:r>
            <a:r>
              <a:rPr lang="ja-JP" altLang="en-US"/>
              <a:t>実測スペクトルの</a:t>
            </a:r>
            <a:r>
              <a:rPr lang="en-US" altLang="ja-JP" dirty="0"/>
              <a:t>Fitting</a:t>
            </a:r>
            <a:r>
              <a:rPr lang="ja-JP" altLang="en-US"/>
              <a:t>で求めた値</a:t>
            </a:r>
            <a:endParaRPr lang="en-US" altLang="ja-JP" dirty="0"/>
          </a:p>
          <a:p>
            <a:r>
              <a:rPr lang="en-US" altLang="ja-JP" dirty="0"/>
              <a:t>(</a:t>
            </a:r>
            <a:r>
              <a:rPr lang="ja-JP" altLang="en-US"/>
              <a:t>細字</a:t>
            </a:r>
            <a:r>
              <a:rPr lang="en-US" altLang="ja-JP" dirty="0"/>
              <a:t>)…HeIa</a:t>
            </a:r>
            <a:r>
              <a:rPr lang="ja-JP" altLang="en-US"/>
              <a:t>の値を基準にして、励起光エネの差分から算出した値</a:t>
            </a:r>
            <a:endParaRPr lang="en-US" altLang="ja-JP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D80C33A-8A8D-EA9B-0EF2-7944E648C2DA}"/>
              </a:ext>
            </a:extLst>
          </p:cNvPr>
          <p:cNvSpPr txBox="1"/>
          <p:nvPr/>
        </p:nvSpPr>
        <p:spPr>
          <a:xfrm>
            <a:off x="3863318" y="-646331"/>
            <a:ext cx="12426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HeIb-HeIa</a:t>
            </a:r>
          </a:p>
          <a:p>
            <a:r>
              <a:rPr kumimoji="1" lang="en-US" altLang="ja-JP" dirty="0"/>
              <a:t>=1.869 eV</a:t>
            </a:r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C92A7D1-3F44-9D2D-BF65-ADBDAA23F329}"/>
              </a:ext>
            </a:extLst>
          </p:cNvPr>
          <p:cNvSpPr txBox="1"/>
          <p:nvPr/>
        </p:nvSpPr>
        <p:spPr>
          <a:xfrm>
            <a:off x="5170086" y="-646332"/>
            <a:ext cx="13708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HeIIa</a:t>
            </a:r>
            <a:r>
              <a:rPr kumimoji="1" lang="en-US" altLang="ja-JP" dirty="0"/>
              <a:t>-HeIa</a:t>
            </a:r>
          </a:p>
          <a:p>
            <a:r>
              <a:rPr kumimoji="1" lang="en-US" altLang="ja-JP" dirty="0"/>
              <a:t>=19.596 eV</a:t>
            </a:r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6EAFACC-0A43-C8EB-D290-FC05F418D4C3}"/>
              </a:ext>
            </a:extLst>
          </p:cNvPr>
          <p:cNvSpPr txBox="1"/>
          <p:nvPr/>
        </p:nvSpPr>
        <p:spPr>
          <a:xfrm>
            <a:off x="6540974" y="-646331"/>
            <a:ext cx="14478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XeIa</a:t>
            </a:r>
            <a:r>
              <a:rPr kumimoji="1" lang="en-US" altLang="ja-JP" dirty="0"/>
              <a:t>-HeIa</a:t>
            </a:r>
          </a:p>
          <a:p>
            <a:r>
              <a:rPr kumimoji="1" lang="en-US" altLang="ja-JP" dirty="0"/>
              <a:t>=-12.781 eV</a:t>
            </a:r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028239E-E281-6071-A3FC-D71792F8141B}"/>
              </a:ext>
            </a:extLst>
          </p:cNvPr>
          <p:cNvSpPr txBox="1"/>
          <p:nvPr/>
        </p:nvSpPr>
        <p:spPr>
          <a:xfrm>
            <a:off x="7928981" y="-646333"/>
            <a:ext cx="14307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XeIa</a:t>
            </a:r>
            <a:r>
              <a:rPr kumimoji="1" lang="en-US" altLang="ja-JP" dirty="0"/>
              <a:t>-HeIa</a:t>
            </a:r>
          </a:p>
          <a:p>
            <a:r>
              <a:rPr kumimoji="1" lang="en-US" altLang="ja-JP" dirty="0"/>
              <a:t>=-11.648 eV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85222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A980DEC4-71C7-D07C-160A-DF782D3BAB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6025965"/>
              </p:ext>
            </p:extLst>
          </p:nvPr>
        </p:nvGraphicFramePr>
        <p:xfrm>
          <a:off x="0" y="784203"/>
          <a:ext cx="1219200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7630">
                  <a:extLst>
                    <a:ext uri="{9D8B030D-6E8A-4147-A177-3AD203B41FA5}">
                      <a16:colId xmlns:a16="http://schemas.microsoft.com/office/drawing/2014/main" val="3267943048"/>
                    </a:ext>
                  </a:extLst>
                </a:gridCol>
                <a:gridCol w="896941">
                  <a:extLst>
                    <a:ext uri="{9D8B030D-6E8A-4147-A177-3AD203B41FA5}">
                      <a16:colId xmlns:a16="http://schemas.microsoft.com/office/drawing/2014/main" val="3287194367"/>
                    </a:ext>
                  </a:extLst>
                </a:gridCol>
                <a:gridCol w="1409633">
                  <a:extLst>
                    <a:ext uri="{9D8B030D-6E8A-4147-A177-3AD203B41FA5}">
                      <a16:colId xmlns:a16="http://schemas.microsoft.com/office/drawing/2014/main" val="3268376557"/>
                    </a:ext>
                  </a:extLst>
                </a:gridCol>
                <a:gridCol w="1409633">
                  <a:extLst>
                    <a:ext uri="{9D8B030D-6E8A-4147-A177-3AD203B41FA5}">
                      <a16:colId xmlns:a16="http://schemas.microsoft.com/office/drawing/2014/main" val="2468044315"/>
                    </a:ext>
                  </a:extLst>
                </a:gridCol>
                <a:gridCol w="1409633">
                  <a:extLst>
                    <a:ext uri="{9D8B030D-6E8A-4147-A177-3AD203B41FA5}">
                      <a16:colId xmlns:a16="http://schemas.microsoft.com/office/drawing/2014/main" val="2761048391"/>
                    </a:ext>
                  </a:extLst>
                </a:gridCol>
                <a:gridCol w="1409633">
                  <a:extLst>
                    <a:ext uri="{9D8B030D-6E8A-4147-A177-3AD203B41FA5}">
                      <a16:colId xmlns:a16="http://schemas.microsoft.com/office/drawing/2014/main" val="2614786515"/>
                    </a:ext>
                  </a:extLst>
                </a:gridCol>
                <a:gridCol w="1409633">
                  <a:extLst>
                    <a:ext uri="{9D8B030D-6E8A-4147-A177-3AD203B41FA5}">
                      <a16:colId xmlns:a16="http://schemas.microsoft.com/office/drawing/2014/main" val="2631371507"/>
                    </a:ext>
                  </a:extLst>
                </a:gridCol>
                <a:gridCol w="1409633">
                  <a:extLst>
                    <a:ext uri="{9D8B030D-6E8A-4147-A177-3AD203B41FA5}">
                      <a16:colId xmlns:a16="http://schemas.microsoft.com/office/drawing/2014/main" val="3181379609"/>
                    </a:ext>
                  </a:extLst>
                </a:gridCol>
                <a:gridCol w="1409633">
                  <a:extLst>
                    <a:ext uri="{9D8B030D-6E8A-4147-A177-3AD203B41FA5}">
                      <a16:colId xmlns:a16="http://schemas.microsoft.com/office/drawing/2014/main" val="840818448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Photon Sources</a:t>
                      </a:r>
                    </a:p>
                  </a:txBody>
                  <a:tcPr marL="6350" marR="6350" marT="6350" marB="0"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He I</a:t>
                      </a:r>
                      <a:r>
                        <a:rPr lang="el-GR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α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He I</a:t>
                      </a:r>
                      <a:r>
                        <a:rPr lang="el-GR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β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He II</a:t>
                      </a:r>
                      <a:r>
                        <a:rPr lang="el-GR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α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Xe I</a:t>
                      </a:r>
                      <a:r>
                        <a:rPr lang="el-GR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α</a:t>
                      </a:r>
                      <a:r>
                        <a:rPr lang="en-US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 (</a:t>
                      </a:r>
                      <a:r>
                        <a:rPr lang="en-US" sz="1800" b="0" i="0" u="none" strike="noStrike" baseline="300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3</a:t>
                      </a:r>
                      <a:r>
                        <a:rPr lang="en-US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P</a:t>
                      </a:r>
                      <a:r>
                        <a:rPr lang="en-US" sz="1800" b="0" i="0" u="none" strike="noStrike" baseline="-250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1</a:t>
                      </a:r>
                      <a:r>
                        <a:rPr lang="en-US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)</a:t>
                      </a:r>
                      <a:endParaRPr lang="el-GR" sz="1800" b="0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  <a:ea typeface="游ゴシック" panose="020B0400000000000000" pitchFamily="50" charset="-128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Xe I</a:t>
                      </a:r>
                      <a:r>
                        <a:rPr lang="el-GR" altLang="ja-JP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α</a:t>
                      </a:r>
                      <a:r>
                        <a:rPr lang="en-US" altLang="ja-JP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 (</a:t>
                      </a:r>
                      <a:r>
                        <a:rPr lang="en-US" altLang="ja-JP" sz="1800" b="0" i="0" u="none" strike="noStrike" baseline="300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1</a:t>
                      </a:r>
                      <a:r>
                        <a:rPr lang="en-US" altLang="ja-JP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P</a:t>
                      </a:r>
                      <a:r>
                        <a:rPr lang="en-US" altLang="ja-JP" sz="1800" b="0" i="0" u="none" strike="noStrike" baseline="-250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1</a:t>
                      </a:r>
                      <a:r>
                        <a:rPr lang="en-US" altLang="ja-JP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)</a:t>
                      </a:r>
                      <a:endParaRPr lang="el-GR" altLang="ja-JP" sz="1800" b="0" i="0" u="none" strike="noStrike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8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AlK</a:t>
                      </a:r>
                      <a:r>
                        <a:rPr lang="el-GR" altLang="ja-JP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α</a:t>
                      </a:r>
                      <a:r>
                        <a:rPr lang="en-US" altLang="ja-JP" sz="1800" b="0" i="0" u="none" strike="noStrike" baseline="-250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1,2</a:t>
                      </a:r>
                      <a:endParaRPr lang="el-GR" altLang="ja-JP" sz="1800" b="0" i="0" u="none" strike="noStrike" baseline="-250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8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MgK</a:t>
                      </a:r>
                      <a:r>
                        <a:rPr lang="el-GR" altLang="ja-JP" sz="18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α</a:t>
                      </a:r>
                      <a:r>
                        <a:rPr lang="en-US" altLang="ja-JP" sz="1800" b="0" i="0" u="none" strike="noStrike" baseline="-250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</a:rPr>
                        <a:t>1,2</a:t>
                      </a:r>
                      <a:endParaRPr lang="el-GR" altLang="ja-JP" sz="1800" b="0" i="0" u="none" strike="noStrike" baseline="-250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8280761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Source transition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1s2p(</a:t>
                      </a:r>
                      <a:r>
                        <a:rPr kumimoji="1" lang="en-US" altLang="ja-JP" sz="1800" b="0" baseline="30000" dirty="0">
                          <a:latin typeface="+mn-lt"/>
                        </a:rPr>
                        <a:t>1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P</a:t>
                      </a:r>
                      <a:r>
                        <a:rPr kumimoji="1" lang="en-US" altLang="ja-JP" sz="1800" b="0" baseline="-25000" dirty="0">
                          <a:latin typeface="+mn-lt"/>
                        </a:rPr>
                        <a:t>1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)</a:t>
                      </a:r>
                      <a:r>
                        <a:rPr kumimoji="1" lang="ja-JP" altLang="en-US" sz="1800" b="0" dirty="0">
                          <a:latin typeface="+mn-lt"/>
                        </a:rPr>
                        <a:t>➔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1s</a:t>
                      </a:r>
                      <a:r>
                        <a:rPr kumimoji="1" lang="en-US" altLang="ja-JP" sz="1800" b="0" baseline="30000" dirty="0">
                          <a:latin typeface="+mn-lt"/>
                        </a:rPr>
                        <a:t>2</a:t>
                      </a:r>
                      <a:endParaRPr kumimoji="1" lang="ja-JP" altLang="en-US" sz="1800" b="0" baseline="300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1s3p(</a:t>
                      </a:r>
                      <a:r>
                        <a:rPr kumimoji="1" lang="en-US" altLang="ja-JP" sz="1800" b="0" baseline="30000" dirty="0">
                          <a:latin typeface="+mn-lt"/>
                        </a:rPr>
                        <a:t>1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P</a:t>
                      </a:r>
                      <a:r>
                        <a:rPr kumimoji="1" lang="en-US" altLang="ja-JP" sz="1800" b="0" baseline="-25000" dirty="0">
                          <a:latin typeface="+mn-lt"/>
                        </a:rPr>
                        <a:t>1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)</a:t>
                      </a:r>
                      <a:r>
                        <a:rPr kumimoji="1" lang="ja-JP" altLang="en-US" sz="1800" b="0" dirty="0">
                          <a:latin typeface="+mn-lt"/>
                        </a:rPr>
                        <a:t>➔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1s</a:t>
                      </a:r>
                      <a:r>
                        <a:rPr kumimoji="1" lang="en-US" altLang="ja-JP" sz="1800" b="0" baseline="30000" dirty="0">
                          <a:latin typeface="+mn-lt"/>
                        </a:rPr>
                        <a:t>2</a:t>
                      </a:r>
                      <a:endParaRPr kumimoji="1" lang="ja-JP" altLang="en-US" sz="1800" b="0" baseline="300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2p(</a:t>
                      </a:r>
                      <a:r>
                        <a:rPr kumimoji="1" lang="en-US" altLang="ja-JP" sz="1800" b="0" baseline="30000" dirty="0">
                          <a:latin typeface="+mn-lt"/>
                        </a:rPr>
                        <a:t>2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P</a:t>
                      </a:r>
                      <a:r>
                        <a:rPr kumimoji="1" lang="en-US" altLang="ja-JP" sz="1800" b="0" baseline="-25000" dirty="0">
                          <a:latin typeface="+mn-lt"/>
                        </a:rPr>
                        <a:t>3/2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)</a:t>
                      </a:r>
                      <a:r>
                        <a:rPr kumimoji="1" lang="ja-JP" altLang="en-US" sz="1800" b="0" dirty="0">
                          <a:latin typeface="+mn-lt"/>
                        </a:rPr>
                        <a:t>➔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1s</a:t>
                      </a:r>
                      <a:endParaRPr kumimoji="1" lang="ja-JP" altLang="en-US" sz="1800" b="0" baseline="300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5p</a:t>
                      </a:r>
                      <a:r>
                        <a:rPr kumimoji="1" lang="en-US" altLang="ja-JP" sz="1800" b="0" baseline="30000" dirty="0">
                          <a:latin typeface="+mn-lt"/>
                        </a:rPr>
                        <a:t>5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6s </a:t>
                      </a:r>
                      <a:r>
                        <a:rPr kumimoji="1" lang="en-US" altLang="ja-JP" sz="1800" b="0" dirty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en-US" altLang="ja-JP" sz="1800" b="0" i="0" u="none" strike="noStrike" baseline="30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3</a:t>
                      </a:r>
                      <a:r>
                        <a:rPr lang="en-US" altLang="ja-JP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P</a:t>
                      </a:r>
                      <a:r>
                        <a:rPr lang="en-US" altLang="ja-JP" sz="1800" b="0" i="0" u="none" strike="noStrike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1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)</a:t>
                      </a:r>
                      <a:r>
                        <a:rPr kumimoji="1" lang="ja-JP" altLang="en-US" sz="1800" b="0" dirty="0">
                          <a:latin typeface="+mn-lt"/>
                        </a:rPr>
                        <a:t>➔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5p</a:t>
                      </a:r>
                      <a:r>
                        <a:rPr kumimoji="1" lang="en-US" altLang="ja-JP" sz="1800" b="0" baseline="30000" dirty="0">
                          <a:latin typeface="+mn-lt"/>
                        </a:rPr>
                        <a:t>6</a:t>
                      </a:r>
                      <a:endParaRPr kumimoji="1" lang="ja-JP" altLang="en-US" sz="1800" b="0" baseline="300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5p</a:t>
                      </a:r>
                      <a:r>
                        <a:rPr kumimoji="1" lang="en-US" altLang="ja-JP" sz="1800" b="0" baseline="30000" dirty="0">
                          <a:latin typeface="+mn-lt"/>
                        </a:rPr>
                        <a:t>5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6s </a:t>
                      </a:r>
                      <a:r>
                        <a:rPr kumimoji="1" lang="en-US" altLang="ja-JP" sz="1800" b="0" dirty="0">
                          <a:solidFill>
                            <a:schemeClr val="tx1"/>
                          </a:solidFill>
                          <a:latin typeface="+mn-lt"/>
                        </a:rPr>
                        <a:t>(</a:t>
                      </a:r>
                      <a:r>
                        <a:rPr lang="en-US" altLang="ja-JP" sz="1800" b="0" i="0" u="none" strike="noStrike" baseline="30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1</a:t>
                      </a:r>
                      <a:r>
                        <a:rPr lang="en-US" altLang="ja-JP" sz="18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P</a:t>
                      </a:r>
                      <a:r>
                        <a:rPr lang="en-US" altLang="ja-JP" sz="1800" b="0" i="0" u="none" strike="noStrike" baseline="-250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游ゴシック" panose="020B0400000000000000" pitchFamily="50" charset="-128"/>
                        </a:rPr>
                        <a:t>1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)</a:t>
                      </a:r>
                      <a:r>
                        <a:rPr kumimoji="1" lang="ja-JP" altLang="en-US" sz="1800" b="0" dirty="0">
                          <a:latin typeface="+mn-lt"/>
                        </a:rPr>
                        <a:t>➔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5p</a:t>
                      </a:r>
                      <a:r>
                        <a:rPr kumimoji="1" lang="en-US" altLang="ja-JP" sz="1800" b="0" baseline="30000" dirty="0">
                          <a:latin typeface="+mn-lt"/>
                        </a:rPr>
                        <a:t>6</a:t>
                      </a:r>
                      <a:endParaRPr kumimoji="1" lang="ja-JP" altLang="en-US" sz="1800" b="0" baseline="300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K-L</a:t>
                      </a:r>
                      <a:r>
                        <a:rPr kumimoji="1" lang="en-US" altLang="ja-JP" sz="1800" b="0" baseline="-25000" dirty="0">
                          <a:latin typeface="+mn-lt"/>
                        </a:rPr>
                        <a:t>2 </a:t>
                      </a:r>
                      <a:r>
                        <a:rPr kumimoji="1" lang="en-US" altLang="ja-JP" sz="1800" b="0" baseline="0" dirty="0">
                          <a:latin typeface="+mn-lt"/>
                        </a:rPr>
                        <a:t>and K-L</a:t>
                      </a:r>
                      <a:r>
                        <a:rPr kumimoji="1" lang="en-US" altLang="ja-JP" sz="1800" b="0" baseline="-25000" dirty="0">
                          <a:latin typeface="+mn-lt"/>
                        </a:rPr>
                        <a:t>3</a:t>
                      </a:r>
                      <a:endParaRPr kumimoji="1" lang="ja-JP" altLang="en-US" sz="1800" b="0" baseline="-250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K-L</a:t>
                      </a:r>
                      <a:r>
                        <a:rPr kumimoji="1" lang="en-US" altLang="ja-JP" sz="1800" b="0" baseline="-25000" dirty="0">
                          <a:latin typeface="+mn-lt"/>
                        </a:rPr>
                        <a:t>2 </a:t>
                      </a:r>
                      <a:r>
                        <a:rPr kumimoji="1" lang="en-US" altLang="ja-JP" sz="1800" b="0" baseline="0" dirty="0">
                          <a:latin typeface="+mn-lt"/>
                        </a:rPr>
                        <a:t>and K-L</a:t>
                      </a:r>
                      <a:r>
                        <a:rPr kumimoji="1" lang="en-US" altLang="ja-JP" sz="1800" b="0" baseline="-25000" dirty="0">
                          <a:latin typeface="+mn-lt"/>
                        </a:rPr>
                        <a:t>3</a:t>
                      </a:r>
                      <a:endParaRPr kumimoji="1" lang="ja-JP" altLang="en-US" sz="1800" b="0" baseline="-250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9707634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Intensity</a:t>
                      </a:r>
                      <a:r>
                        <a:rPr kumimoji="1" lang="ja-JP" altLang="en-US" sz="1800" b="0" dirty="0">
                          <a:latin typeface="+mn-lt"/>
                        </a:rPr>
                        <a:t> </a:t>
                      </a:r>
                      <a:r>
                        <a:rPr kumimoji="1" lang="en-US" altLang="ja-JP" sz="1800" b="0" dirty="0">
                          <a:latin typeface="+mn-lt"/>
                        </a:rPr>
                        <a:t>(% of the total intensity)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Strongest of He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6 % of </a:t>
                      </a:r>
                      <a:br>
                        <a:rPr kumimoji="1" lang="en-US" altLang="ja-JP" sz="1800" b="0" dirty="0">
                          <a:latin typeface="+mn-lt"/>
                        </a:rPr>
                      </a:br>
                      <a:r>
                        <a:rPr kumimoji="1" lang="en-US" altLang="ja-JP" sz="1800" b="0" dirty="0">
                          <a:latin typeface="+mn-lt"/>
                        </a:rPr>
                        <a:t>He I</a:t>
                      </a:r>
                      <a:r>
                        <a:rPr kumimoji="1" lang="el-GR" altLang="ja-JP" sz="1800" b="0" dirty="0">
                          <a:latin typeface="+mn-lt"/>
                        </a:rPr>
                        <a:t>α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6 % of </a:t>
                      </a:r>
                      <a:br>
                        <a:rPr kumimoji="1" lang="en-US" altLang="ja-JP" sz="1800" b="0" dirty="0">
                          <a:latin typeface="+mn-lt"/>
                        </a:rPr>
                      </a:br>
                      <a:r>
                        <a:rPr kumimoji="1" lang="en-US" altLang="ja-JP" sz="1800" b="0" dirty="0">
                          <a:latin typeface="+mn-lt"/>
                        </a:rPr>
                        <a:t>He I</a:t>
                      </a:r>
                      <a:r>
                        <a:rPr kumimoji="1" lang="el-GR" altLang="ja-JP" sz="1800" b="0" dirty="0">
                          <a:latin typeface="+mn-lt"/>
                        </a:rPr>
                        <a:t>α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Strongest of Xe I</a:t>
                      </a:r>
                      <a:r>
                        <a:rPr kumimoji="1" lang="el-GR" altLang="ja-JP" sz="1800" b="0" dirty="0">
                          <a:latin typeface="+mn-lt"/>
                        </a:rPr>
                        <a:t>α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18 % of </a:t>
                      </a:r>
                      <a:br>
                        <a:rPr kumimoji="1" lang="en-US" altLang="ja-JP" sz="1800" b="0" dirty="0">
                          <a:latin typeface="+mn-lt"/>
                        </a:rPr>
                      </a:br>
                      <a:r>
                        <a:rPr kumimoji="1" lang="en-US" altLang="ja-JP" sz="1800" b="0" dirty="0">
                          <a:latin typeface="+mn-lt"/>
                        </a:rPr>
                        <a:t>Xe I</a:t>
                      </a:r>
                      <a:r>
                        <a:rPr kumimoji="1" lang="el-GR" altLang="ja-JP" sz="1800" b="0" dirty="0">
                          <a:latin typeface="+mn-lt"/>
                        </a:rPr>
                        <a:t>α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-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-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548598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Photon energy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21.218 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23.087 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40.814 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8.437 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9.570 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1486.65 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1253.64 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9385879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Photon linewidth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&lt;1 </a:t>
                      </a:r>
                      <a:r>
                        <a:rPr kumimoji="1" lang="en-US" altLang="ja-JP" sz="1800" b="0" dirty="0" err="1">
                          <a:latin typeface="+mn-lt"/>
                        </a:rPr>
                        <a:t>meV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&lt;1 </a:t>
                      </a:r>
                      <a:r>
                        <a:rPr kumimoji="1" lang="en-US" altLang="ja-JP" sz="1800" b="0" dirty="0" err="1">
                          <a:latin typeface="+mn-lt"/>
                        </a:rPr>
                        <a:t>meV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&lt;1 </a:t>
                      </a:r>
                      <a:r>
                        <a:rPr kumimoji="1" lang="en-US" altLang="ja-JP" sz="1800" b="0" dirty="0" err="1">
                          <a:latin typeface="+mn-lt"/>
                        </a:rPr>
                        <a:t>meV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&lt;1 </a:t>
                      </a:r>
                      <a:r>
                        <a:rPr kumimoji="1" lang="en-US" altLang="ja-JP" sz="1800" b="0" dirty="0" err="1">
                          <a:latin typeface="+mn-lt"/>
                        </a:rPr>
                        <a:t>meV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dirty="0">
                          <a:latin typeface="+mn-lt"/>
                        </a:rPr>
                        <a:t>&lt;1 </a:t>
                      </a:r>
                      <a:r>
                        <a:rPr kumimoji="1" lang="en-US" altLang="ja-JP" sz="1800" b="0" dirty="0" err="1">
                          <a:latin typeface="+mn-lt"/>
                        </a:rPr>
                        <a:t>meV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850 </a:t>
                      </a:r>
                      <a:r>
                        <a:rPr kumimoji="1" lang="en-US" altLang="ja-JP" sz="1800" b="0" dirty="0" err="1">
                          <a:latin typeface="+mn-lt"/>
                        </a:rPr>
                        <a:t>meV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680 </a:t>
                      </a:r>
                      <a:r>
                        <a:rPr kumimoji="1" lang="en-US" altLang="ja-JP" sz="1800" b="0" dirty="0" err="1">
                          <a:latin typeface="+mn-lt"/>
                        </a:rPr>
                        <a:t>meV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6036962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/>
                      <a:endParaRPr kumimoji="1" lang="en-US" altLang="ja-JP" sz="1800" b="0" dirty="0">
                        <a:latin typeface="+mn-lt"/>
                      </a:endParaRPr>
                    </a:p>
                    <a:p>
                      <a:pPr algn="ctr"/>
                      <a:endParaRPr kumimoji="1" lang="en-US" altLang="ja-JP" sz="1800" b="0" dirty="0">
                        <a:latin typeface="+mn-lt"/>
                      </a:endParaRPr>
                    </a:p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Kinetic energy at E</a:t>
                      </a:r>
                      <a:r>
                        <a:rPr kumimoji="1" lang="en-US" altLang="ja-JP" sz="1800" b="0" baseline="-25000" dirty="0">
                          <a:latin typeface="+mn-lt"/>
                        </a:rPr>
                        <a:t>F </a:t>
                      </a:r>
                      <a:r>
                        <a:rPr kumimoji="1" lang="en-US" altLang="ja-JP" sz="1800" b="0" baseline="0" dirty="0">
                          <a:latin typeface="+mn-lt"/>
                        </a:rPr>
                        <a:t>(eV)</a:t>
                      </a:r>
                      <a:endParaRPr kumimoji="1" lang="ja-JP" altLang="en-US" sz="1800" b="0" baseline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PE02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026868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PE05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>
                          <a:latin typeface="+mn-lt"/>
                        </a:rPr>
                        <a:t>16.98</a:t>
                      </a:r>
                      <a:endParaRPr kumimoji="1" lang="ja-JP" altLang="en-US" sz="1800" b="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>
                          <a:latin typeface="+mn-lt"/>
                        </a:rPr>
                        <a:t>18.85</a:t>
                      </a:r>
                      <a:endParaRPr kumimoji="1" lang="ja-JP" altLang="en-US" sz="1800" b="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>
                          <a:latin typeface="+mn-lt"/>
                        </a:rPr>
                        <a:t>36.58</a:t>
                      </a:r>
                      <a:endParaRPr kumimoji="1" lang="ja-JP" altLang="en-US" sz="1800" b="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53318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PE10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>
                          <a:latin typeface="+mn-lt"/>
                        </a:rPr>
                        <a:t>16.99</a:t>
                      </a:r>
                      <a:endParaRPr kumimoji="1" lang="ja-JP" altLang="en-US" sz="1800" b="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>
                          <a:latin typeface="+mn-lt"/>
                        </a:rPr>
                        <a:t>18.88</a:t>
                      </a:r>
                      <a:endParaRPr kumimoji="1" lang="ja-JP" altLang="en-US" sz="1800" b="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>
                          <a:latin typeface="+mn-lt"/>
                        </a:rPr>
                        <a:t>36.58</a:t>
                      </a:r>
                      <a:endParaRPr kumimoji="1" lang="ja-JP" altLang="en-US" sz="1800" b="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939183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PE20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>
                          <a:latin typeface="+mn-lt"/>
                        </a:rPr>
                        <a:t>17.01</a:t>
                      </a:r>
                      <a:endParaRPr kumimoji="1" lang="ja-JP" altLang="en-US" sz="1800" b="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>
                          <a:latin typeface="+mn-lt"/>
                        </a:rPr>
                        <a:t>18.88</a:t>
                      </a:r>
                      <a:endParaRPr kumimoji="1" lang="ja-JP" altLang="en-US" sz="1800" b="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1" dirty="0">
                          <a:latin typeface="+mn-lt"/>
                        </a:rPr>
                        <a:t>36.60</a:t>
                      </a:r>
                      <a:endParaRPr kumimoji="1" lang="ja-JP" altLang="en-US" sz="1800" b="1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774099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kumimoji="1" lang="ja-JP" altLang="en-US" sz="1800" b="1" baseline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PE100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827261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kumimoji="1" lang="ja-JP" altLang="en-US" sz="1800" b="1" baseline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b="0" dirty="0">
                          <a:latin typeface="+mn-lt"/>
                        </a:rPr>
                        <a:t>PE200</a:t>
                      </a:r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 b="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768493"/>
                  </a:ext>
                </a:extLst>
              </a:tr>
            </a:tbl>
          </a:graphicData>
        </a:graphic>
      </p:graphicFrame>
      <p:pic>
        <p:nvPicPr>
          <p:cNvPr id="6" name="図 5">
            <a:extLst>
              <a:ext uri="{FF2B5EF4-FFF2-40B4-BE49-F238E27FC236}">
                <a16:creationId xmlns:a16="http://schemas.microsoft.com/office/drawing/2014/main" id="{5203189F-1294-530A-318E-E8480FF9DB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04" t="5432"/>
          <a:stretch/>
        </p:blipFill>
        <p:spPr>
          <a:xfrm>
            <a:off x="9467186" y="5523133"/>
            <a:ext cx="2451549" cy="1100779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84292DD-F111-8997-EC4B-846AA8E18766}"/>
              </a:ext>
            </a:extLst>
          </p:cNvPr>
          <p:cNvSpPr txBox="1"/>
          <p:nvPr/>
        </p:nvSpPr>
        <p:spPr>
          <a:xfrm>
            <a:off x="346841" y="309005"/>
            <a:ext cx="2383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Date: 2024/09/29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1743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1C78F9-7F2E-5B84-0954-27EC523A9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kumimoji="1" lang="en-US" altLang="ja-JP" dirty="0"/>
              <a:t>Archive: 2025.05.07 Au EF-edge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6818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CA8F5E-D536-F7B7-457E-8A5DEC5F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EF: </a:t>
            </a:r>
            <a:r>
              <a:rPr kumimoji="1" lang="en-US" altLang="ja-JP" dirty="0" err="1"/>
              <a:t>XeIa</a:t>
            </a:r>
            <a:r>
              <a:rPr kumimoji="1" lang="en-US" altLang="ja-JP" dirty="0"/>
              <a:t>, PE10, Slit6</a:t>
            </a:r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5C7DF86-C034-B296-019F-01FDE8F60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986" y="929918"/>
            <a:ext cx="11278358" cy="5772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523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EBA0-4342-E166-1E04-91549D6A9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278779-C21C-8B9B-170F-8FD6E9921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EF: </a:t>
            </a:r>
            <a:r>
              <a:rPr kumimoji="1" lang="en-US" altLang="ja-JP" dirty="0" err="1"/>
              <a:t>XeIa</a:t>
            </a:r>
            <a:r>
              <a:rPr kumimoji="1" lang="en-US" altLang="ja-JP" dirty="0"/>
              <a:t>, PE05, Slit6</a:t>
            </a:r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E915ABB-3864-408D-3BC1-7B9EFC47F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376" y="921927"/>
            <a:ext cx="10826710" cy="57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410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6A66B9-31D7-AC96-FD25-E454195FA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EF: </a:t>
            </a:r>
            <a:r>
              <a:rPr kumimoji="1" lang="en-US" altLang="ja-JP" dirty="0" err="1"/>
              <a:t>XeIa</a:t>
            </a:r>
            <a:r>
              <a:rPr kumimoji="1" lang="en-US" altLang="ja-JP" dirty="0"/>
              <a:t>, PE02, Slit6</a:t>
            </a:r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A32B65E-9218-A78D-0EE2-4DB6E779D2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575" y="991899"/>
            <a:ext cx="11504849" cy="5710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767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64CFFE-6C30-BA3A-71C0-196841DEC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EF: </a:t>
            </a:r>
            <a:r>
              <a:rPr kumimoji="1" lang="en-US" altLang="ja-JP" dirty="0" err="1"/>
              <a:t>HeIIa</a:t>
            </a:r>
            <a:r>
              <a:rPr kumimoji="1" lang="en-US" altLang="ja-JP" dirty="0"/>
              <a:t>, PE20, Slit6</a:t>
            </a:r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D88F5D3-DC44-ACE4-3EA1-B38264C333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52" y="931905"/>
            <a:ext cx="11435895" cy="5926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4497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FB0C3A-6D15-1872-C7D3-F1CD131B1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EF: </a:t>
            </a:r>
            <a:r>
              <a:rPr kumimoji="1" lang="en-US" altLang="ja-JP" dirty="0" err="1"/>
              <a:t>HeIIa</a:t>
            </a:r>
            <a:r>
              <a:rPr kumimoji="1" lang="en-US" altLang="ja-JP" dirty="0"/>
              <a:t>, PE10, Slit6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34C06DC4-9364-EEE4-63AD-203575365F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399" y="915456"/>
            <a:ext cx="11054452" cy="5787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3126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F216D8-FEDE-A1F4-AE9F-A11DC0F22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EF: HeIa, PE10, Slit6</a:t>
            </a:r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411680F-FFC8-DFC6-3644-3B3C077D8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998" y="1011143"/>
            <a:ext cx="11025752" cy="5691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7481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09A347-6C17-55D9-6846-319308609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EF: HeIa, PE05, Slit6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1262668-BC6C-684E-3CCA-3E07000BA0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732" y="1126048"/>
            <a:ext cx="10907889" cy="545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513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8C203F-A9E3-C3B8-6771-1FA82B0CA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EF: HeIa, PE02, Slit6</a:t>
            </a:r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0B90743-1B84-F757-AE98-145077501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12" y="1063820"/>
            <a:ext cx="11384670" cy="5639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656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1">
      <a:majorFont>
        <a:latin typeface="Arial"/>
        <a:ea typeface="メイリオ"/>
        <a:cs typeface=""/>
      </a:majorFont>
      <a:minorFont>
        <a:latin typeface="Arial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</TotalTime>
  <Words>484</Words>
  <Application>Microsoft Macintosh PowerPoint</Application>
  <PresentationFormat>ワイド画面</PresentationFormat>
  <Paragraphs>148</Paragraphs>
  <Slides>11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4" baseType="lpstr">
      <vt:lpstr>游ゴシック</vt:lpstr>
      <vt:lpstr>Arial</vt:lpstr>
      <vt:lpstr>Office テーマ</vt:lpstr>
      <vt:lpstr>PowerPoint プレゼンテーション</vt:lpstr>
      <vt:lpstr>PowerPoint プレゼンテーション</vt:lpstr>
      <vt:lpstr>Archive: 2025.05.07 Au EF-edge</vt:lpstr>
      <vt:lpstr>EF: XeIa, PE10, Slit6</vt:lpstr>
      <vt:lpstr>EF: XeIa, PE05, Slit6</vt:lpstr>
      <vt:lpstr>EF: XeIa, PE02, Slit6</vt:lpstr>
      <vt:lpstr>EF: HeIIa, PE20, Slit6</vt:lpstr>
      <vt:lpstr>EF: HeIIa, PE10, Slit6</vt:lpstr>
      <vt:lpstr>EF: HeIa, PE10, Slit6</vt:lpstr>
      <vt:lpstr>EF: HeIa, PE05, Slit6</vt:lpstr>
      <vt:lpstr>EF: HeIa, PE02, Slit6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史 西野</dc:creator>
  <cp:lastModifiedBy>遼太郎 中澤</cp:lastModifiedBy>
  <cp:revision>27</cp:revision>
  <cp:lastPrinted>2025-05-07T12:38:35Z</cp:lastPrinted>
  <dcterms:created xsi:type="dcterms:W3CDTF">2024-09-27T16:02:46Z</dcterms:created>
  <dcterms:modified xsi:type="dcterms:W3CDTF">2025-11-06T12:29:53Z</dcterms:modified>
</cp:coreProperties>
</file>